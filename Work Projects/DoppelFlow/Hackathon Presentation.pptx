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4" r:id="rId5"/>
    <p:sldId id="329" r:id="rId6"/>
    <p:sldId id="322" r:id="rId7"/>
    <p:sldId id="321" r:id="rId8"/>
    <p:sldId id="324" r:id="rId9"/>
    <p:sldId id="325" r:id="rId10"/>
    <p:sldId id="32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DFE"/>
    <a:srgbClr val="D5DEFF"/>
    <a:srgbClr val="F6F7FF"/>
    <a:srgbClr val="DBDCE5"/>
    <a:srgbClr val="F0F1FB"/>
    <a:srgbClr val="DFE1F6"/>
    <a:srgbClr val="EEEFF5"/>
    <a:srgbClr val="DFE1EF"/>
    <a:srgbClr val="A9B1FF"/>
    <a:srgbClr val="FF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3020" autoAdjust="0"/>
  </p:normalViewPr>
  <p:slideViewPr>
    <p:cSldViewPr snapToGrid="0">
      <p:cViewPr varScale="1">
        <p:scale>
          <a:sx n="63" d="100"/>
          <a:sy n="63" d="100"/>
        </p:scale>
        <p:origin x="840" y="56"/>
      </p:cViewPr>
      <p:guideLst>
        <p:guide orient="horz" pos="1416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248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12/16/2023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73A30-F0E7-1854-D7A5-7F568CB337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43A2A-6559-1747-976A-DC26AF7BBE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12/16/2023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84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10010"/>
            <a:ext cx="8874306" cy="3585753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85" y="4502448"/>
            <a:ext cx="8874306" cy="1441152"/>
          </a:xfrm>
        </p:spPr>
        <p:txBody>
          <a:bodyPr lIns="0" tIns="0" rIns="0" bIns="0"/>
          <a:lstStyle>
            <a:lvl1pPr marL="0" indent="0" algn="l">
              <a:buNone/>
              <a:defRPr sz="2400" b="1" i="0">
                <a:solidFill>
                  <a:srgbClr val="D4DDFE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 descr="preencoded.png">
            <a:extLst>
              <a:ext uri="{FF2B5EF4-FFF2-40B4-BE49-F238E27FC236}">
                <a16:creationId xmlns:a16="http://schemas.microsoft.com/office/drawing/2014/main" id="{056E6431-5C32-6197-AA1B-376379431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eck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B13D922-479E-0DC1-5C55-F4D7A550448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388164" y="24765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5962" y="2476500"/>
            <a:ext cx="3708401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9443615E-62BC-2D46-B8BA-FD3A72B7BAB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388164" y="3484562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CBD4E95C-EAA1-DCCF-D975-37EE3FBD91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55962" y="3484562"/>
            <a:ext cx="3708401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8EF5E933-304E-1D0F-2544-A608B4EE087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88164" y="4492625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3014695-7138-84E3-3225-87977FD8E4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55962" y="4492625"/>
            <a:ext cx="3708401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53F7E88-2097-D325-6D72-678AA2F5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542C44-78F9-C385-BA13-32EF29E328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3" y="2487613"/>
            <a:ext cx="2603497" cy="55403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E3F465DB-04AD-D2AA-978D-7B88D2F31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4970" y="2487613"/>
            <a:ext cx="2603497" cy="55403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379A3659-EC2D-312F-1FA2-2C3208B35D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54537" y="2487613"/>
            <a:ext cx="2604092" cy="55403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D8352836-701E-DDA9-602B-1CF2FD54A7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3286458"/>
            <a:ext cx="2603500" cy="55403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2B9A4520-E4E7-3735-9AA4-F886868CDA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74967" y="3286458"/>
            <a:ext cx="2603500" cy="55403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2ED3CCCC-5B50-BA18-C9CF-82C1113391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54534" y="3286458"/>
            <a:ext cx="2603500" cy="55403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49446AE-6E14-9EAD-CCAA-C1EC91FDA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945" b="66188"/>
          <a:stretch>
            <a:fillRect/>
          </a:stretch>
        </p:blipFill>
        <p:spPr>
          <a:xfrm>
            <a:off x="7730504" y="4539146"/>
            <a:ext cx="4461496" cy="2318855"/>
          </a:xfrm>
          <a:custGeom>
            <a:avLst/>
            <a:gdLst>
              <a:gd name="connsiteX0" fmla="*/ 0 w 4461496"/>
              <a:gd name="connsiteY0" fmla="*/ 0 h 2318855"/>
              <a:gd name="connsiteX1" fmla="*/ 4461496 w 4461496"/>
              <a:gd name="connsiteY1" fmla="*/ 0 h 2318855"/>
              <a:gd name="connsiteX2" fmla="*/ 4461496 w 4461496"/>
              <a:gd name="connsiteY2" fmla="*/ 2318855 h 2318855"/>
              <a:gd name="connsiteX3" fmla="*/ 0 w 4461496"/>
              <a:gd name="connsiteY3" fmla="*/ 2318855 h 2318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1496" h="2318855">
                <a:moveTo>
                  <a:pt x="0" y="0"/>
                </a:moveTo>
                <a:lnTo>
                  <a:pt x="4461496" y="0"/>
                </a:lnTo>
                <a:lnTo>
                  <a:pt x="4461496" y="2318855"/>
                </a:lnTo>
                <a:lnTo>
                  <a:pt x="0" y="2318855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788B2DA-5890-0F11-581C-A9189E008CE1}"/>
              </a:ext>
            </a:extLst>
          </p:cNvPr>
          <p:cNvGrpSpPr/>
          <p:nvPr userDrawn="1"/>
        </p:nvGrpSpPr>
        <p:grpSpPr>
          <a:xfrm rot="5400000">
            <a:off x="10058034" y="23582"/>
            <a:ext cx="2133966" cy="2133966"/>
            <a:chOff x="9654699" y="2229295"/>
            <a:chExt cx="2133966" cy="21339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C0B013B-DCAB-56B5-B1A1-0962EFCDAD0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7E9164D-468F-6ABB-E014-8357739493B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4085303"/>
            <a:ext cx="2603500" cy="190254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949D5F3-7F2A-1CB3-9ED4-ECFC804C9F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4967" y="4085303"/>
            <a:ext cx="2603500" cy="190254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874E81CB-4A9F-BEB8-37D9-EF50A848EC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54534" y="4085303"/>
            <a:ext cx="2603500" cy="190254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17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AF34004-C8D7-0BF6-E972-61781179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D9C1F6F0-4FC6-1160-0C8F-975ECDECAF3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74967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5">
            <a:extLst>
              <a:ext uri="{FF2B5EF4-FFF2-40B4-BE49-F238E27FC236}">
                <a16:creationId xmlns:a16="http://schemas.microsoft.com/office/drawing/2014/main" id="{6EF1040F-3507-9529-F7BA-DEF2138BAC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454534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3429000"/>
            <a:ext cx="2603500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949D5F3-7F2A-1CB3-9ED4-ECFC804C9F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4967" y="3429000"/>
            <a:ext cx="2603500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874E81CB-4A9F-BEB8-37D9-EF50A848EC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54534" y="3429000"/>
            <a:ext cx="2603500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3679A-06AD-D46C-BEB8-62FEE039D4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6320" r="60054"/>
          <a:stretch>
            <a:fillRect/>
          </a:stretch>
        </p:blipFill>
        <p:spPr>
          <a:xfrm>
            <a:off x="9452531" y="0"/>
            <a:ext cx="2739468" cy="3681345"/>
          </a:xfrm>
          <a:custGeom>
            <a:avLst/>
            <a:gdLst>
              <a:gd name="connsiteX0" fmla="*/ 0 w 2739468"/>
              <a:gd name="connsiteY0" fmla="*/ 0 h 3681345"/>
              <a:gd name="connsiteX1" fmla="*/ 2739468 w 2739468"/>
              <a:gd name="connsiteY1" fmla="*/ 0 h 3681345"/>
              <a:gd name="connsiteX2" fmla="*/ 2739468 w 2739468"/>
              <a:gd name="connsiteY2" fmla="*/ 3681345 h 3681345"/>
              <a:gd name="connsiteX3" fmla="*/ 0 w 2739468"/>
              <a:gd name="connsiteY3" fmla="*/ 3681345 h 3681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9468" h="3681345">
                <a:moveTo>
                  <a:pt x="0" y="0"/>
                </a:moveTo>
                <a:lnTo>
                  <a:pt x="2739468" y="0"/>
                </a:lnTo>
                <a:lnTo>
                  <a:pt x="2739468" y="3681345"/>
                </a:lnTo>
                <a:lnTo>
                  <a:pt x="0" y="3681345"/>
                </a:lnTo>
                <a:close/>
              </a:path>
            </a:pathLst>
          </a:cu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504F2DB4-4E28-277B-9867-CFC84603650B}"/>
              </a:ext>
            </a:extLst>
          </p:cNvPr>
          <p:cNvSpPr/>
          <p:nvPr userDrawn="1"/>
        </p:nvSpPr>
        <p:spPr>
          <a:xfrm>
            <a:off x="0" y="4094798"/>
            <a:ext cx="1057676" cy="2115352"/>
          </a:xfrm>
          <a:custGeom>
            <a:avLst/>
            <a:gdLst>
              <a:gd name="connsiteX0" fmla="*/ 0 w 1057676"/>
              <a:gd name="connsiteY0" fmla="*/ 0 h 2115352"/>
              <a:gd name="connsiteX1" fmla="*/ 1057676 w 1057676"/>
              <a:gd name="connsiteY1" fmla="*/ 1057676 h 2115352"/>
              <a:gd name="connsiteX2" fmla="*/ 0 w 1057676"/>
              <a:gd name="connsiteY2" fmla="*/ 2115352 h 211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7676" h="2115352">
                <a:moveTo>
                  <a:pt x="0" y="0"/>
                </a:moveTo>
                <a:cubicBezTo>
                  <a:pt x="584138" y="0"/>
                  <a:pt x="1057676" y="473538"/>
                  <a:pt x="1057676" y="1057676"/>
                </a:cubicBezTo>
                <a:cubicBezTo>
                  <a:pt x="1057676" y="1641814"/>
                  <a:pt x="584138" y="2115352"/>
                  <a:pt x="0" y="21153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7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hart or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4433915" cy="1695777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2" y="2743200"/>
            <a:ext cx="3657598" cy="3187700"/>
          </a:xfrm>
        </p:spPr>
        <p:txBody>
          <a:bodyPr lIns="0" tIns="0" rIns="0" bIns="0">
            <a:noAutofit/>
          </a:bodyPr>
          <a:lstStyle>
            <a:lvl1pPr marL="285750" indent="-28346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EDCEA88-E3F7-FC47-F274-E58409CC4E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7407" y="1054099"/>
            <a:ext cx="5657793" cy="4889501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SmartArt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401" y="2476500"/>
            <a:ext cx="4495801" cy="345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365DF2-FE3C-3232-AB75-C282AFD43D64}"/>
              </a:ext>
            </a:extLst>
          </p:cNvPr>
          <p:cNvSpPr/>
          <p:nvPr userDrawn="1"/>
        </p:nvSpPr>
        <p:spPr>
          <a:xfrm>
            <a:off x="9638466" y="3991499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20871AE-D105-49BC-6CB6-BC68EC55DA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39644024-6839-A3FA-9801-8CE700F9EC99}"/>
              </a:ext>
            </a:extLst>
          </p:cNvPr>
          <p:cNvSpPr/>
          <p:nvPr userDrawn="1"/>
        </p:nvSpPr>
        <p:spPr>
          <a:xfrm>
            <a:off x="10198293" y="4875419"/>
            <a:ext cx="1993707" cy="1982581"/>
          </a:xfrm>
          <a:custGeom>
            <a:avLst/>
            <a:gdLst>
              <a:gd name="connsiteX0" fmla="*/ 1993707 w 1993707"/>
              <a:gd name="connsiteY0" fmla="*/ 1952030 h 1982581"/>
              <a:gd name="connsiteX1" fmla="*/ 1993707 w 1993707"/>
              <a:gd name="connsiteY1" fmla="*/ 1982581 h 1982581"/>
              <a:gd name="connsiteX2" fmla="*/ 1965515 w 1993707"/>
              <a:gd name="connsiteY2" fmla="*/ 1982581 h 1982581"/>
              <a:gd name="connsiteX3" fmla="*/ 1974866 w 1993707"/>
              <a:gd name="connsiteY3" fmla="*/ 1974866 h 1982581"/>
              <a:gd name="connsiteX4" fmla="*/ 1346200 w 1993707"/>
              <a:gd name="connsiteY4" fmla="*/ 0 h 1982581"/>
              <a:gd name="connsiteX5" fmla="*/ 1987879 w 1993707"/>
              <a:gd name="connsiteY5" fmla="*/ 162479 h 1982581"/>
              <a:gd name="connsiteX6" fmla="*/ 1993707 w 1993707"/>
              <a:gd name="connsiteY6" fmla="*/ 166020 h 1982581"/>
              <a:gd name="connsiteX7" fmla="*/ 1993707 w 1993707"/>
              <a:gd name="connsiteY7" fmla="*/ 740369 h 1982581"/>
              <a:gd name="connsiteX8" fmla="*/ 1974866 w 1993707"/>
              <a:gd name="connsiteY8" fmla="*/ 717533 h 1982581"/>
              <a:gd name="connsiteX9" fmla="*/ 1346199 w 1993707"/>
              <a:gd name="connsiteY9" fmla="*/ 457130 h 1982581"/>
              <a:gd name="connsiteX10" fmla="*/ 457130 w 1993707"/>
              <a:gd name="connsiteY10" fmla="*/ 1346199 h 1982581"/>
              <a:gd name="connsiteX11" fmla="*/ 717532 w 1993707"/>
              <a:gd name="connsiteY11" fmla="*/ 1974866 h 1982581"/>
              <a:gd name="connsiteX12" fmla="*/ 726883 w 1993707"/>
              <a:gd name="connsiteY12" fmla="*/ 1982581 h 1982581"/>
              <a:gd name="connsiteX13" fmla="*/ 159927 w 1993707"/>
              <a:gd name="connsiteY13" fmla="*/ 1982581 h 1982581"/>
              <a:gd name="connsiteX14" fmla="*/ 105791 w 1993707"/>
              <a:gd name="connsiteY14" fmla="*/ 1870202 h 1982581"/>
              <a:gd name="connsiteX15" fmla="*/ 0 w 1993707"/>
              <a:gd name="connsiteY15" fmla="*/ 1346200 h 1982581"/>
              <a:gd name="connsiteX16" fmla="*/ 1346200 w 1993707"/>
              <a:gd name="connsiteY16" fmla="*/ 0 h 198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93707" h="1982581">
                <a:moveTo>
                  <a:pt x="1993707" y="1952030"/>
                </a:moveTo>
                <a:lnTo>
                  <a:pt x="1993707" y="1982581"/>
                </a:lnTo>
                <a:lnTo>
                  <a:pt x="1965515" y="1982581"/>
                </a:lnTo>
                <a:lnTo>
                  <a:pt x="1974866" y="1974866"/>
                </a:lnTo>
                <a:close/>
                <a:moveTo>
                  <a:pt x="1346200" y="0"/>
                </a:moveTo>
                <a:cubicBezTo>
                  <a:pt x="1578539" y="0"/>
                  <a:pt x="1797131" y="58859"/>
                  <a:pt x="1987879" y="162479"/>
                </a:cubicBezTo>
                <a:lnTo>
                  <a:pt x="1993707" y="166020"/>
                </a:lnTo>
                <a:lnTo>
                  <a:pt x="1993707" y="740369"/>
                </a:lnTo>
                <a:lnTo>
                  <a:pt x="1974866" y="717533"/>
                </a:lnTo>
                <a:cubicBezTo>
                  <a:pt x="1813976" y="556643"/>
                  <a:pt x="1591708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591709"/>
                  <a:pt x="556643" y="1813976"/>
                  <a:pt x="717532" y="1974866"/>
                </a:cubicBezTo>
                <a:lnTo>
                  <a:pt x="726883" y="1982581"/>
                </a:lnTo>
                <a:lnTo>
                  <a:pt x="159927" y="1982581"/>
                </a:lnTo>
                <a:lnTo>
                  <a:pt x="105791" y="1870202"/>
                </a:lnTo>
                <a:cubicBezTo>
                  <a:pt x="37670" y="1709145"/>
                  <a:pt x="0" y="1532072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11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9A77AE4-6D69-28DE-CC84-F7991882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1" y="2476500"/>
            <a:ext cx="4495801" cy="345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269C21E5-B8EE-7438-A771-34BC8006E1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5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1" y="2476500"/>
            <a:ext cx="4495801" cy="345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</a:extLst>
          </p:cNvPr>
          <p:cNvSpPr/>
          <p:nvPr userDrawn="1"/>
        </p:nvSpPr>
        <p:spPr>
          <a:xfrm>
            <a:off x="9363677" y="152331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</a:extLst>
          </p:cNvPr>
          <p:cNvSpPr/>
          <p:nvPr userDrawn="1"/>
        </p:nvSpPr>
        <p:spPr>
          <a:xfrm>
            <a:off x="8907309" y="13652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D5364683-E8FF-8D94-04BD-2DF0086DB12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B1592037-0F29-1473-3EA8-7A7812DF3A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CE6D5275-4C73-11F2-4948-8DD43F836F7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22822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DF0F72F-56B8-7E37-B80A-49A9D92550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2822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3895"/>
          <a:stretch>
            <a:fillRect/>
          </a:stretch>
        </p:blipFill>
        <p:spPr>
          <a:xfrm>
            <a:off x="3459002" y="4945020"/>
            <a:ext cx="7328137" cy="1912980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F127C6F7-85D7-FF83-7650-A1088544CA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22822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8A9E30-DD50-8CF6-982F-9900C57AA8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2822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72106"/>
          <a:stretch>
            <a:fillRect/>
          </a:stretch>
        </p:blipFill>
        <p:spPr>
          <a:xfrm>
            <a:off x="-1" y="4945020"/>
            <a:ext cx="5304866" cy="1912980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B31B01D-6799-48A5-28CB-18D05984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25221-A778-8D2D-4131-4EB7C15E96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95401" y="3429000"/>
            <a:ext cx="3773778" cy="2558845"/>
          </a:xfrm>
        </p:spPr>
        <p:txBody>
          <a:bodyPr/>
          <a:lstStyle>
            <a:lvl1pPr marL="0" indent="0"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566928" indent="-283464">
              <a:spcBef>
                <a:spcPts val="1000"/>
              </a:spcBef>
              <a:defRPr sz="1800"/>
            </a:lvl3pPr>
            <a:lvl4pPr marL="850392" indent="-283464">
              <a:spcBef>
                <a:spcPts val="1000"/>
              </a:spcBef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F127C6F7-85D7-FF83-7650-A1088544CA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79827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C2DFFA-1F01-A357-525E-918DEE3CFF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79827" y="3444611"/>
            <a:ext cx="3773778" cy="2558845"/>
          </a:xfrm>
        </p:spPr>
        <p:txBody>
          <a:bodyPr/>
          <a:lstStyle>
            <a:lvl1pPr marL="0" indent="0"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566928" indent="-283464">
              <a:spcBef>
                <a:spcPts val="1000"/>
              </a:spcBef>
              <a:defRPr sz="1800"/>
            </a:lvl3pPr>
            <a:lvl4pPr marL="850392" indent="-283464">
              <a:spcBef>
                <a:spcPts val="1000"/>
              </a:spcBef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CC1D31-1A58-0955-7050-EC12CA42AF9F}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33EBEA4-E496-D277-9742-756CF63AE6A6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FD4F8D5-4E6F-402B-2B42-248D213930DD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0B88FFF6-96F4-A5EC-5FA7-28B793F76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2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4949977" cy="162377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88164" y="24765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5962" y="24765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BCCCB2B0-FA91-2B00-07E8-454DF4E8C89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57344" y="24765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C208DBEE-F3AC-002B-D94F-58BCDF0827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25142" y="24765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8AB6090E-B445-CAD9-6D75-F89A9C01394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88164" y="42291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00527DBE-FAF9-7AE6-659C-035A708977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55962" y="42291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B205B4BA-3FDF-ACE5-FC20-17EE755268B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57344" y="4229100"/>
            <a:ext cx="500634" cy="50063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7B586C0-CA7D-6A7A-4BE7-8EC9D8C635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5142" y="42291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279400"/>
            <a:ext cx="8874306" cy="3251571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85" y="3837656"/>
            <a:ext cx="8874306" cy="207615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rgbClr val="D4DDFE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108B6DF-70B6-3DE6-4253-3C4926B86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A5B9066-F7A6-6231-330D-A498C543A6A1}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1491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7309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8" r:id="rId4"/>
    <p:sldLayoutId id="2147483669" r:id="rId5"/>
    <p:sldLayoutId id="2147483670" r:id="rId6"/>
    <p:sldLayoutId id="2147483672" r:id="rId7"/>
    <p:sldLayoutId id="2147483675" r:id="rId8"/>
    <p:sldLayoutId id="2147483671" r:id="rId9"/>
    <p:sldLayoutId id="2147483673" r:id="rId10"/>
    <p:sldLayoutId id="2147483677" r:id="rId11"/>
    <p:sldLayoutId id="2147483676" r:id="rId12"/>
    <p:sldLayoutId id="214748365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orkfellow.ai/learn/repetitive-tasks-at-work-research-and-statistics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10011"/>
            <a:ext cx="8874306" cy="2133189"/>
          </a:xfrm>
        </p:spPr>
        <p:txBody>
          <a:bodyPr/>
          <a:lstStyle/>
          <a:p>
            <a:r>
              <a:rPr lang="en-US" dirty="0" err="1"/>
              <a:t>DoppelFlow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6B039-AD11-C061-6CE2-7424121FE3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200" b="0" dirty="0">
                <a:latin typeface="+mn-lt"/>
              </a:rPr>
              <a:t>Andrii </a:t>
            </a:r>
            <a:r>
              <a:rPr lang="en-US" sz="2200" b="0" dirty="0" err="1">
                <a:latin typeface="+mn-lt"/>
              </a:rPr>
              <a:t>Volotskov</a:t>
            </a:r>
            <a:endParaRPr lang="en-US" sz="2200" b="0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sz="2200" b="0" dirty="0">
                <a:latin typeface="+mn-lt"/>
              </a:rPr>
              <a:t>Kyle Fitzpatrick</a:t>
            </a:r>
            <a:br>
              <a:rPr lang="en-US" sz="2200" b="0" dirty="0">
                <a:latin typeface="+mn-lt"/>
              </a:rPr>
            </a:br>
            <a:r>
              <a:rPr lang="en-US" sz="2200" b="0" dirty="0" err="1">
                <a:latin typeface="+mn-lt"/>
              </a:rPr>
              <a:t>Sergii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Trotsenko</a:t>
            </a:r>
            <a:br>
              <a:rPr lang="en-US" sz="2200" b="0" dirty="0">
                <a:latin typeface="+mn-lt"/>
              </a:rPr>
            </a:br>
            <a:r>
              <a:rPr lang="en-US" sz="2200" b="0" dirty="0">
                <a:latin typeface="+mn-lt"/>
              </a:rPr>
              <a:t>Skyler Bissell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FFF8A2-4BDA-6E9B-1158-9C0152F4D5A4}"/>
              </a:ext>
            </a:extLst>
          </p:cNvPr>
          <p:cNvSpPr txBox="1">
            <a:spLocks/>
          </p:cNvSpPr>
          <p:nvPr/>
        </p:nvSpPr>
        <p:spPr>
          <a:xfrm>
            <a:off x="811185" y="3096072"/>
            <a:ext cx="8874306" cy="5267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rgbClr val="D4DDFE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0" dirty="0"/>
              <a:t>Workflows built in your image.</a:t>
            </a: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598201"/>
            <a:ext cx="5284816" cy="961899"/>
          </a:xfrm>
        </p:spPr>
        <p:txBody>
          <a:bodyPr/>
          <a:lstStyle/>
          <a:p>
            <a:r>
              <a:rPr lang="en-US" dirty="0"/>
              <a:t>Market Trends</a:t>
            </a:r>
          </a:p>
        </p:txBody>
      </p:sp>
      <p:pic>
        <p:nvPicPr>
          <p:cNvPr id="12" name="Picture Placeholder 11" descr="Badge with checkmark">
            <a:extLst>
              <a:ext uri="{FF2B5EF4-FFF2-40B4-BE49-F238E27FC236}">
                <a16:creationId xmlns:a16="http://schemas.microsoft.com/office/drawing/2014/main" id="{7ACB77E6-BC5F-1BC1-CA97-6D2E37F39C9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11184" y="2252980"/>
            <a:ext cx="502920" cy="50292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982" y="2070100"/>
            <a:ext cx="4723958" cy="685800"/>
          </a:xfrm>
        </p:spPr>
        <p:txBody>
          <a:bodyPr/>
          <a:lstStyle/>
          <a:p>
            <a:r>
              <a:rPr lang="en-US" sz="2200" dirty="0"/>
              <a:t>Agent frameworks emerged in 2023 and will begin to integrate deeply with </a:t>
            </a:r>
            <a:r>
              <a:rPr lang="en-US" sz="2200" b="1" u="sng" dirty="0"/>
              <a:t>real</a:t>
            </a:r>
            <a:r>
              <a:rPr lang="en-US" sz="2200" dirty="0"/>
              <a:t> business workflows next year</a:t>
            </a:r>
          </a:p>
          <a:p>
            <a:endParaRPr lang="en-US" sz="2200" dirty="0"/>
          </a:p>
        </p:txBody>
      </p:sp>
      <p:pic>
        <p:nvPicPr>
          <p:cNvPr id="16" name="Picture Placeholder 15" descr="Badge with checkmark">
            <a:extLst>
              <a:ext uri="{FF2B5EF4-FFF2-40B4-BE49-F238E27FC236}">
                <a16:creationId xmlns:a16="http://schemas.microsoft.com/office/drawing/2014/main" id="{41353449-F29F-160E-215E-BB307C73E339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11184" y="3647122"/>
            <a:ext cx="502920" cy="50292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A858E6-8813-CD9D-EE22-EB8E062FBA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78982" y="3647122"/>
            <a:ext cx="6562918" cy="685800"/>
          </a:xfrm>
        </p:spPr>
        <p:txBody>
          <a:bodyPr/>
          <a:lstStyle/>
          <a:p>
            <a:r>
              <a:rPr lang="en-US" sz="2200" dirty="0"/>
              <a:t>Businesses at all levels have proven to be extremely eager to adopt AI solutions with </a:t>
            </a:r>
            <a:r>
              <a:rPr lang="en-US" sz="2200" u="sng" dirty="0"/>
              <a:t>valid use cases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24" name="Picture Placeholder 23" descr="Badge with checkmark">
            <a:extLst>
              <a:ext uri="{FF2B5EF4-FFF2-40B4-BE49-F238E27FC236}">
                <a16:creationId xmlns:a16="http://schemas.microsoft.com/office/drawing/2014/main" id="{F2D23F06-5068-6EAF-10FC-42E0A8F65A5B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11184" y="5041264"/>
            <a:ext cx="502920" cy="50292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80F9D7-8410-9097-31BC-A9AE7C7052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78982" y="5041264"/>
            <a:ext cx="5465638" cy="685800"/>
          </a:xfrm>
        </p:spPr>
        <p:txBody>
          <a:bodyPr/>
          <a:lstStyle/>
          <a:p>
            <a:r>
              <a:rPr lang="en-US" sz="2200" dirty="0"/>
              <a:t>Highly repetitive, boring tasks will be the first types of work to be automated at scale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AE87B-E37F-614C-6EE5-D03C01018C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1185" y="1919480"/>
            <a:ext cx="8505535" cy="1356360"/>
          </a:xfrm>
        </p:spPr>
        <p:txBody>
          <a:bodyPr/>
          <a:lstStyle/>
          <a:p>
            <a:r>
              <a:rPr lang="en-US" sz="2400" b="1" dirty="0"/>
              <a:t>Repetitive tasks are boring for workers and automating them is difficult and expensive.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A2A30A2-AD4F-902E-3EA9-07DBC5404683}"/>
              </a:ext>
            </a:extLst>
          </p:cNvPr>
          <p:cNvSpPr txBox="1">
            <a:spLocks/>
          </p:cNvSpPr>
          <p:nvPr/>
        </p:nvSpPr>
        <p:spPr>
          <a:xfrm>
            <a:off x="811185" y="3702888"/>
            <a:ext cx="10253055" cy="13563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Knowledge workers spend ~50% of their weekly time on repetitive tasks</a:t>
            </a:r>
            <a:r>
              <a:rPr lang="en-US" sz="2200" baseline="300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br>
              <a:rPr lang="en-US" sz="2200" baseline="30000" dirty="0">
                <a:solidFill>
                  <a:schemeClr val="accent2"/>
                </a:solidFill>
              </a:rPr>
            </a:br>
            <a:br>
              <a:rPr lang="en-US" sz="2200" baseline="30000" dirty="0">
                <a:solidFill>
                  <a:schemeClr val="accent2"/>
                </a:solidFill>
              </a:rPr>
            </a:br>
            <a:br>
              <a:rPr lang="en-US" sz="2200" baseline="30000" dirty="0">
                <a:solidFill>
                  <a:schemeClr val="accent2"/>
                </a:solidFill>
              </a:rPr>
            </a:br>
            <a:r>
              <a:rPr lang="en-US" sz="2200" dirty="0"/>
              <a:t>We all know how </a:t>
            </a:r>
            <a:r>
              <a:rPr lang="en-US" sz="2200" i="1" dirty="0"/>
              <a:t>fun</a:t>
            </a:r>
            <a:r>
              <a:rPr lang="en-US" sz="2200" dirty="0"/>
              <a:t> that work can be…</a:t>
            </a:r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2BDAA0-D9B4-F6CB-60C2-FDD90BFA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A9E707A-0ADC-1496-D7DE-1061F0C41F42}"/>
              </a:ext>
            </a:extLst>
          </p:cNvPr>
          <p:cNvSpPr txBox="1">
            <a:spLocks/>
          </p:cNvSpPr>
          <p:nvPr/>
        </p:nvSpPr>
        <p:spPr>
          <a:xfrm>
            <a:off x="709585" y="1808480"/>
            <a:ext cx="7459055" cy="1356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Our workflows are the fastest way to train an AI doppelgänger for your repetitive tasks.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0CE1995-3CCC-D909-B57F-794122C13EFC}"/>
              </a:ext>
            </a:extLst>
          </p:cNvPr>
          <p:cNvSpPr txBox="1">
            <a:spLocks/>
          </p:cNvSpPr>
          <p:nvPr/>
        </p:nvSpPr>
        <p:spPr>
          <a:xfrm>
            <a:off x="811185" y="3164840"/>
            <a:ext cx="10253055" cy="13563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Here’s how it works: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Hit record and carry out any task you wish to automate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AI parses visual &amp; code-based recording to create a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Re-play this Doppel when needed, or share with a friend 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2011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2737DE-26BD-16DC-197C-306C21A6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5B9C3A7-78E2-0368-726E-D0C1B6BE2CB1}"/>
              </a:ext>
            </a:extLst>
          </p:cNvPr>
          <p:cNvSpPr txBox="1">
            <a:spLocks/>
          </p:cNvSpPr>
          <p:nvPr/>
        </p:nvSpPr>
        <p:spPr>
          <a:xfrm>
            <a:off x="740065" y="2265680"/>
            <a:ext cx="7459055" cy="1356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Let’s have a look!  🤞😉</a:t>
            </a:r>
          </a:p>
        </p:txBody>
      </p:sp>
    </p:spTree>
    <p:extLst>
      <p:ext uri="{BB962C8B-B14F-4D97-AF65-F5344CB8AC3E}">
        <p14:creationId xmlns:p14="http://schemas.microsoft.com/office/powerpoint/2010/main" val="25365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78" y="769293"/>
            <a:ext cx="7357455" cy="961899"/>
          </a:xfrm>
        </p:spPr>
        <p:txBody>
          <a:bodyPr/>
          <a:lstStyle/>
          <a:p>
            <a:r>
              <a:rPr lang="en-US" dirty="0"/>
              <a:t>Two Risks to Address…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9EE9C1-236A-BC23-F434-21D63B53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866" y="3314682"/>
            <a:ext cx="5106814" cy="3143991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0E3DD8C-E2A0-72F7-2C3C-49141B3F5AD4}"/>
              </a:ext>
            </a:extLst>
          </p:cNvPr>
          <p:cNvSpPr txBox="1">
            <a:spLocks/>
          </p:cNvSpPr>
          <p:nvPr/>
        </p:nvSpPr>
        <p:spPr>
          <a:xfrm>
            <a:off x="6556866" y="2755882"/>
            <a:ext cx="3384895" cy="55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#2 – Compute Cost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EC130B7-AE2A-F5D2-4C84-1C061D4D8591}"/>
              </a:ext>
            </a:extLst>
          </p:cNvPr>
          <p:cNvSpPr txBox="1">
            <a:spLocks/>
          </p:cNvSpPr>
          <p:nvPr/>
        </p:nvSpPr>
        <p:spPr>
          <a:xfrm>
            <a:off x="445424" y="2010592"/>
            <a:ext cx="5284816" cy="55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#1 – Privacy &amp; Security</a:t>
            </a:r>
            <a:br>
              <a:rPr lang="en-US" sz="2400" b="1" dirty="0"/>
            </a:br>
            <a:endParaRPr lang="en-US" sz="2400" b="1" dirty="0"/>
          </a:p>
          <a:p>
            <a:r>
              <a:rPr lang="en-US" sz="2200" dirty="0"/>
              <a:t>Remove malicious actors with KYC</a:t>
            </a:r>
          </a:p>
          <a:p>
            <a:endParaRPr lang="en-US" sz="2200" dirty="0"/>
          </a:p>
          <a:p>
            <a:r>
              <a:rPr lang="en-US" sz="2200" dirty="0"/>
              <a:t>Handle data privacy with open-source models &amp; (optional) on-prem hosting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1C18C4A-EC5D-2A92-B45E-8EDBE44F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268BA45-A097-69F0-077A-EEC834C7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289" y="3054506"/>
            <a:ext cx="2443745" cy="2488481"/>
          </a:xfrm>
          <a:prstGeom prst="rect">
            <a:avLst/>
          </a:prstGeom>
        </p:spPr>
      </p:pic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2AADBF4-FBE9-0292-761D-CD0B90F3D40F}"/>
              </a:ext>
            </a:extLst>
          </p:cNvPr>
          <p:cNvSpPr txBox="1">
            <a:spLocks/>
          </p:cNvSpPr>
          <p:nvPr/>
        </p:nvSpPr>
        <p:spPr>
          <a:xfrm>
            <a:off x="2818592" y="2091329"/>
            <a:ext cx="6554816" cy="55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Want to stay updated on our progress?</a:t>
            </a:r>
          </a:p>
        </p:txBody>
      </p:sp>
    </p:spTree>
    <p:extLst>
      <p:ext uri="{BB962C8B-B14F-4D97-AF65-F5344CB8AC3E}">
        <p14:creationId xmlns:p14="http://schemas.microsoft.com/office/powerpoint/2010/main" val="4269896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-presentation_tm03460604_Win32_SD_v8.pptx" id="{66635C4D-D4A9-4648-90D6-E45654B1E8E2}" vid="{94017650-3BB5-407C-BEF8-89944962E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775E1D-CEA1-47AF-BBAA-C0FEE5CAA5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229B82-2C15-48C7-81C4-60933CA1C9E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37CE065-66B7-4F0E-946A-AB3C0E5396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{D185982C-44F7-474E-ADBE-051B9080B994}tf03460604_win32</Template>
  <TotalTime>105</TotalTime>
  <Words>218</Words>
  <Application>Microsoft Office PowerPoint</Application>
  <PresentationFormat>Widescreen</PresentationFormat>
  <Paragraphs>28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DoppelFlow</vt:lpstr>
      <vt:lpstr>Market Trends</vt:lpstr>
      <vt:lpstr>Problem</vt:lpstr>
      <vt:lpstr>Solution </vt:lpstr>
      <vt:lpstr>Demo</vt:lpstr>
      <vt:lpstr>Two Risks to Address…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DoppelFlow</dc:title>
  <dc:creator>Skyler Bissell</dc:creator>
  <cp:lastModifiedBy>Skyler Bissell</cp:lastModifiedBy>
  <cp:revision>2</cp:revision>
  <dcterms:created xsi:type="dcterms:W3CDTF">2023-12-16T22:45:18Z</dcterms:created>
  <dcterms:modified xsi:type="dcterms:W3CDTF">2023-12-17T00:30:40Z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